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E2343-6F5C-4853-9BB9-5ADF726063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0236F6-5646-4EE4-B3FE-0B182E4E82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2E0865-2912-400F-95DE-53367219CE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31C8C4-4C40-43A4-AA1C-659877374F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90958F-1FA9-42CE-AA9E-AE5A37F79D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80B4D5-665A-4BE0-AC72-4FF1A39194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E093F3-0A6B-4D62-BF89-DDE0A0C5D3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373665-268D-4935-9578-BF6F422F3F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DD564A-35A3-4651-8FFF-0D04E80FC3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742F9F-7719-4B58-8767-5B1274D0BD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316DCC-23AF-4890-9B62-6D02A33979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CDE594-B1F6-40C9-8190-0AFB918ADE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70020E-AF08-4F92-A6CD-57A068398A7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Kliknij, aby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edytować format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tekstu tytułu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914400" y="1371600"/>
            <a:ext cx="10332360" cy="40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en-US" sz="6000" spc="-1" strike="noStrike">
                <a:solidFill>
                  <a:srgbClr val="ffffff"/>
                </a:solidFill>
                <a:latin typeface="Calibri"/>
              </a:rPr>
              <a:t>👩‍⚖️</a:t>
            </a:r>
            <a:endParaRPr b="0" lang="pl-PL" sz="6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</a:rPr>
              <a:t>Aunt ALA</a:t>
            </a:r>
            <a:endParaRPr b="0" lang="pl-PL" sz="5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199"/>
              </a:spcAft>
            </a:pPr>
            <a:r>
              <a:rPr b="0" lang="en-US" sz="2800" spc="-1" strike="noStrike">
                <a:solidFill>
                  <a:srgbClr val="e91e8c"/>
                </a:solidFill>
                <a:latin typeface="Calibri"/>
              </a:rPr>
              <a:t>AlICjA — AI Context Analisator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bec8dc"/>
                </a:solidFill>
                <a:latin typeface="Calibri"/>
              </a:rPr>
              <a:t>Automated Contract Compliance Analysis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401"/>
              </a:spcAft>
            </a:pPr>
            <a:r>
              <a:rPr b="0" lang="en-US" sz="2200" spc="-1" strike="noStrike">
                <a:solidFill>
                  <a:srgbClr val="bec8dc"/>
                </a:solidFill>
                <a:latin typeface="Calibri"/>
              </a:rPr>
              <a:t>against Energy Law Regulations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ETHSilesia Hackathon 2026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Presentation for TAURON Group Representatives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/>
          <p:cNvSpPr/>
          <p:nvPr/>
        </p:nvSpPr>
        <p:spPr>
          <a:xfrm>
            <a:off x="731520" y="365760"/>
            <a:ext cx="109724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1. WHERE WE ARE TODAY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e91e8c"/>
                </a:solidFill>
                <a:latin typeface="Calibri"/>
              </a:rPr>
              <a:t>Manual contract review can't keep up with scale and pace of change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Box 2"/>
          <p:cNvSpPr/>
          <p:nvPr/>
        </p:nvSpPr>
        <p:spPr>
          <a:xfrm>
            <a:off x="731520" y="1828800"/>
            <a:ext cx="5028840" cy="39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TAURON's Scale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5.8 million customer contracts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(5.4M B2C + 0.4M B2B)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Hundreds of OWU and contract templates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Dozens of legal acts affecting contracts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12+ legislative amendments per year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Manual Process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8–16 hours of lawyer work per OWU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Selective review (not every clause)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Weeks to respond to amendments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No central audit registry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3"/>
          <p:cNvSpPr/>
          <p:nvPr/>
        </p:nvSpPr>
        <p:spPr>
          <a:xfrm>
            <a:off x="6400800" y="1828800"/>
            <a:ext cx="5028840" cy="35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ff5050"/>
                </a:solidFill>
                <a:latin typeface="Calibri"/>
              </a:rPr>
              <a:t>Real Risks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🔴  </a:t>
            </a: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URE penalty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600" spc="-1" strike="noStrike">
                <a:solidFill>
                  <a:srgbClr val="ff5050"/>
                </a:solidFill>
                <a:latin typeface="Calibri"/>
              </a:rPr>
              <a:t>     </a:t>
            </a:r>
            <a:r>
              <a:rPr b="0" lang="en-US" sz="1600" spc="-1" strike="noStrike">
                <a:solidFill>
                  <a:srgbClr val="ff5050"/>
                </a:solidFill>
                <a:latin typeface="Calibri"/>
              </a:rPr>
              <a:t>Up to 15% of licensed revenue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🔴  </a:t>
            </a: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UOKiK penalty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5050"/>
                </a:solidFill>
                <a:latin typeface="Calibri"/>
              </a:rPr>
              <a:t>     </a:t>
            </a:r>
            <a:r>
              <a:rPr b="0" lang="en-US" sz="1600" spc="-1" strike="noStrike">
                <a:solidFill>
                  <a:srgbClr val="ff5050"/>
                </a:solidFill>
                <a:latin typeface="Calibri"/>
              </a:rPr>
              <a:t>Up to 10% of turnover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(precedent: Orange — PLN 28M)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🔴  </a:t>
            </a: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Class action lawsuits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600" spc="-1" strike="noStrike">
                <a:solidFill>
                  <a:srgbClr val="ff5050"/>
                </a:solidFill>
                <a:latin typeface="Calibri"/>
              </a:rPr>
              <a:t>     </a:t>
            </a:r>
            <a:r>
              <a:rPr b="0" lang="en-US" sz="1600" spc="-1" strike="noStrike">
                <a:solidFill>
                  <a:srgbClr val="ff5050"/>
                </a:solidFill>
                <a:latin typeface="Calibri"/>
              </a:rPr>
              <a:t>Thousands of claims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🔴  </a:t>
            </a: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Reputation damage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5050"/>
                </a:solidFill>
                <a:latin typeface="Calibri"/>
              </a:rPr>
              <a:t>     </a:t>
            </a:r>
            <a:r>
              <a:rPr b="0" lang="en-US" sz="1600" spc="-1" strike="noStrike">
                <a:solidFill>
                  <a:srgbClr val="ff5050"/>
                </a:solidFill>
                <a:latin typeface="Calibri"/>
              </a:rPr>
              <a:t>NPS target ≥75% at risk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731520" y="594360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e91e8c"/>
                </a:solidFill>
                <a:latin typeface="Calibri"/>
              </a:rPr>
              <a:t>Does TAURON know how many of its 5.8M contracts are fully compliant today?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1"/>
          <p:cNvSpPr/>
          <p:nvPr/>
        </p:nvSpPr>
        <p:spPr>
          <a:xfrm>
            <a:off x="731520" y="365760"/>
            <a:ext cx="109724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2. WHAT CAN BE IMPROVED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e91e8c"/>
                </a:solidFill>
                <a:latin typeface="Calibri"/>
              </a:rPr>
              <a:t>AlICjA — "Aunt ALA" automates what lawyers do over months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Box 2"/>
          <p:cNvSpPr/>
          <p:nvPr/>
        </p:nvSpPr>
        <p:spPr>
          <a:xfrm>
            <a:off x="731520" y="1828800"/>
            <a:ext cx="5028840" cy="26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ffd700"/>
                </a:solidFill>
                <a:latin typeface="Calibri"/>
              </a:rPr>
              <a:t>TODAY (manual)          →  WITH AlICjA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8–16h per OWU           →  5–10 minutes</a:t>
            </a:r>
            <a:endParaRPr b="0" lang="pl-PL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Selective analysis       →  Every clause vs every regulation</a:t>
            </a:r>
            <a:endParaRPr b="0" lang="pl-PL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No registry              →  Blockchain audit trail</a:t>
            </a:r>
            <a:endParaRPr b="0" lang="pl-PL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Weeks response           →  Hours</a:t>
            </a:r>
            <a:endParaRPr b="0" lang="pl-PL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Depends on person        →  Repeatable, versioned (MLflow)</a:t>
            </a:r>
            <a:endParaRPr b="0" lang="pl-PL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Box 3"/>
          <p:cNvSpPr/>
          <p:nvPr/>
        </p:nvSpPr>
        <p:spPr>
          <a:xfrm>
            <a:off x="6400800" y="1828800"/>
            <a:ext cx="5028840" cy="34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What AlICjA Does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1. Reads document — AI parser (Docling)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2. Compares with legal base — RAG pipeline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3. Analyzes compliance — Polish LLM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4. Generates report — severity + recommendations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5. Registers on blockchain — SHA-256 hash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2000" spc="-1" strike="noStrike">
                <a:solidFill>
                  <a:srgbClr val="bec8dc"/>
                </a:solidFill>
                <a:latin typeface="Calibri"/>
              </a:rPr>
              <a:t>What AlICjA Does NOT Do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✗ </a:t>
            </a: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Does not replace the lawyer — supports them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✗ </a:t>
            </a: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Does not send data externally — 100% on-premise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✗ </a:t>
            </a: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Not a black box — fully auditable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1"/>
          <p:cNvSpPr/>
          <p:nvPr/>
        </p:nvSpPr>
        <p:spPr>
          <a:xfrm>
            <a:off x="731520" y="365760"/>
            <a:ext cx="10972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3. HOW AlICjA WORKS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Box 2"/>
          <p:cNvSpPr/>
          <p:nvPr/>
        </p:nvSpPr>
        <p:spPr>
          <a:xfrm>
            <a:off x="457200" y="1645920"/>
            <a:ext cx="2102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📄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Box 3"/>
          <p:cNvSpPr/>
          <p:nvPr/>
        </p:nvSpPr>
        <p:spPr>
          <a:xfrm>
            <a:off x="457200" y="292608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e91e8c"/>
                </a:solidFill>
                <a:latin typeface="Calibri"/>
              </a:rPr>
              <a:t>1. READ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4"/>
          <p:cNvSpPr/>
          <p:nvPr/>
        </p:nvSpPr>
        <p:spPr>
          <a:xfrm>
            <a:off x="457200" y="3657600"/>
            <a:ext cx="210276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Docling parser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Legal structure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(articles, clauses)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5"/>
          <p:cNvSpPr/>
          <p:nvPr/>
        </p:nvSpPr>
        <p:spPr>
          <a:xfrm>
            <a:off x="2377440" y="2011680"/>
            <a:ext cx="45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e91e8c"/>
                </a:solidFill>
                <a:latin typeface="Calibri"/>
              </a:rPr>
              <a:t>→</a:t>
            </a:r>
            <a:endParaRPr b="0" lang="pl-PL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2743200" y="1645920"/>
            <a:ext cx="2102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🧠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Box 7"/>
          <p:cNvSpPr/>
          <p:nvPr/>
        </p:nvSpPr>
        <p:spPr>
          <a:xfrm>
            <a:off x="2743200" y="292608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e91e8c"/>
                </a:solidFill>
                <a:latin typeface="Calibri"/>
              </a:rPr>
              <a:t>2. COMPARE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8"/>
          <p:cNvSpPr/>
          <p:nvPr/>
        </p:nvSpPr>
        <p:spPr>
          <a:xfrm>
            <a:off x="2743200" y="3657600"/>
            <a:ext cx="210276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RAG pipeline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Energy Law, URE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Consumer Protection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Box 9"/>
          <p:cNvSpPr/>
          <p:nvPr/>
        </p:nvSpPr>
        <p:spPr>
          <a:xfrm>
            <a:off x="4663440" y="2011680"/>
            <a:ext cx="45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e91e8c"/>
                </a:solidFill>
                <a:latin typeface="Calibri"/>
              </a:rPr>
              <a:t>→</a:t>
            </a:r>
            <a:endParaRPr b="0" lang="pl-PL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029200" y="1645920"/>
            <a:ext cx="2102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⚖️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1"/>
          <p:cNvSpPr/>
          <p:nvPr/>
        </p:nvSpPr>
        <p:spPr>
          <a:xfrm>
            <a:off x="5029200" y="292608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e91e8c"/>
                </a:solidFill>
                <a:latin typeface="Calibri"/>
              </a:rPr>
              <a:t>3. ANALYZE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12"/>
          <p:cNvSpPr/>
          <p:nvPr/>
        </p:nvSpPr>
        <p:spPr>
          <a:xfrm>
            <a:off x="5029200" y="3657600"/>
            <a:ext cx="210276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Polish LLM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Evaluates each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clause vs regulation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6949440" y="2011680"/>
            <a:ext cx="45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e91e8c"/>
                </a:solidFill>
                <a:latin typeface="Calibri"/>
              </a:rPr>
              <a:t>→</a:t>
            </a:r>
            <a:endParaRPr b="0" lang="pl-PL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14"/>
          <p:cNvSpPr/>
          <p:nvPr/>
        </p:nvSpPr>
        <p:spPr>
          <a:xfrm>
            <a:off x="7315200" y="1645920"/>
            <a:ext cx="2102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📊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15"/>
          <p:cNvSpPr/>
          <p:nvPr/>
        </p:nvSpPr>
        <p:spPr>
          <a:xfrm>
            <a:off x="7315200" y="292608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e91e8c"/>
                </a:solidFill>
                <a:latin typeface="Calibri"/>
              </a:rPr>
              <a:t>4. REPORT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16"/>
          <p:cNvSpPr/>
          <p:nvPr/>
        </p:nvSpPr>
        <p:spPr>
          <a:xfrm>
            <a:off x="7315200" y="3657600"/>
            <a:ext cx="210276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Findings list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Severity levels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Recommendations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17"/>
          <p:cNvSpPr/>
          <p:nvPr/>
        </p:nvSpPr>
        <p:spPr>
          <a:xfrm>
            <a:off x="9235440" y="2011680"/>
            <a:ext cx="45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e91e8c"/>
                </a:solidFill>
                <a:latin typeface="Calibri"/>
              </a:rPr>
              <a:t>→</a:t>
            </a:r>
            <a:endParaRPr b="0" lang="pl-PL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18"/>
          <p:cNvSpPr/>
          <p:nvPr/>
        </p:nvSpPr>
        <p:spPr>
          <a:xfrm>
            <a:off x="9601200" y="1645920"/>
            <a:ext cx="2102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🔗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Box 19"/>
          <p:cNvSpPr/>
          <p:nvPr/>
        </p:nvSpPr>
        <p:spPr>
          <a:xfrm>
            <a:off x="9601200" y="292608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e91e8c"/>
                </a:solidFill>
                <a:latin typeface="Calibri"/>
              </a:rPr>
              <a:t>5. BLOCKCHAIN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0"/>
          <p:cNvSpPr/>
          <p:nvPr/>
        </p:nvSpPr>
        <p:spPr>
          <a:xfrm>
            <a:off x="9601200" y="3657600"/>
            <a:ext cx="210276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SHA-256 hash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TAURON private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blockchain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21"/>
          <p:cNvSpPr/>
          <p:nvPr/>
        </p:nvSpPr>
        <p:spPr>
          <a:xfrm>
            <a:off x="457200" y="5669280"/>
            <a:ext cx="1124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Full pipeline: Document → Parse → Chunk → Embed → Qdrant → Retrieve legal context → LLM analysis → Report → Blockchain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731520" y="365760"/>
            <a:ext cx="109724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4. WHY IT'S WORTH IT — NOW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e91e8c"/>
                </a:solidFill>
                <a:latin typeface="Calibri"/>
              </a:rPr>
              <a:t>Aligned with "TAURON NOWA energia" strategy 2025–2035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547560" y="1378080"/>
            <a:ext cx="10972440" cy="49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EBITDA &gt;PLN 13B (2035)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Penalty elimination protects financial results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40 TWh sales (2035)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Customer base +29% = more contracts for compliance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Digital transformation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AI compliance = part of 24/7 digital ecosystem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NPS ≥75% (2035)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No abusive clauses = fewer complaints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ESG / Governance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Blockchain audit trail = WSE Best Practices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New products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Dynamic tariffs, PPA, prosumer, EV contracts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100% smart meters (2030)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New distribution contracts for 5.9M points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Climate neutrality 2040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Compliance with new RES regulations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Dividend from 2028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→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Regulatory stability → dividend capacity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731520" y="629604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e91e8c"/>
                </a:solidFill>
                <a:latin typeface="Calibri"/>
              </a:rPr>
              <a:t>The later TAURON implements compliance automation, the greater the risk at scale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731520" y="365760"/>
            <a:ext cx="10972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5. REAL BENEFIT FOR TAURON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731520" y="1645920"/>
            <a:ext cx="5028840" cy="16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4800" spc="-1" strike="noStrike">
                <a:solidFill>
                  <a:srgbClr val="ffd700"/>
                </a:solidFill>
                <a:latin typeface="Calibri"/>
              </a:rPr>
              <a:t>ROI: 9x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2400" spc="-1" strike="noStrike">
                <a:solidFill>
                  <a:srgbClr val="ffd700"/>
                </a:solidFill>
                <a:latin typeface="Calibri"/>
              </a:rPr>
              <a:t>in the first year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64ff64"/>
                </a:solidFill>
                <a:latin typeface="Calibri"/>
              </a:rPr>
              <a:t>Payback period: ~6 weeks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731520" y="3657600"/>
            <a:ext cx="502884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Direct Savings (annual)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Lawyer time savings        ~PLN 900,000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Outsourcing reduction      ~PLN 750,000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Penalty mitigation (EV)    ~PLN 2,000,000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64ff64"/>
                </a:solidFill>
                <a:latin typeface="Calibri"/>
              </a:rPr>
              <a:t>Total benefit             ~PLN 3,650,000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Cost: ~PLN 400K (Y1) → ~PLN 250K (Y2+)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6400800" y="1645920"/>
            <a:ext cx="5028840" cy="28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ff5050"/>
                </a:solidFill>
                <a:latin typeface="Calibri"/>
              </a:rPr>
              <a:t>Risk Mitigation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🛡️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URE penalty for OWU non-compliance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PLN 5–50M (up to 15% of revenue)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🛡️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UOKiK penalty for abusive clauses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PLN 10–100M (up to 10% of turnover)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🛡️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Class action lawsuits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PLN 5–20M (reputation + damages)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🛡️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Investment rating downgrade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Increased cost of financing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731520" y="6126480"/>
            <a:ext cx="10972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e91e8c"/>
                </a:solidFill>
                <a:latin typeface="Calibri"/>
              </a:rPr>
              <a:t>"A single URE penalty costs more than 10 years of AlICjA"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731520" y="365760"/>
            <a:ext cx="109724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6. TAURON BLOCKCHAIN — NATURAL FIT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e91e8c"/>
                </a:solidFill>
                <a:latin typeface="Calibri"/>
              </a:rPr>
              <a:t>TAURON has its own private blockchain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731520" y="1828800"/>
            <a:ext cx="5028840" cy="354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How AlICjA Uses Blockchain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🔗 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Proof of compliance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SHA-256 hash → on-chain record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🔒 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Immutability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Once recorded, cannot be changed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📋 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Audit trail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When, what, with what result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🔄 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Versioning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New analysis → new hash → history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🤝 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Cross-BU trust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 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Shared registry across Business Units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6400800" y="1828800"/>
            <a:ext cx="5028840" cy="35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Architecture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[Sales BU]  [Customer Service]  [New Services]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91e8c"/>
                </a:solidFill>
                <a:latin typeface="Calibri"/>
              </a:rPr>
              <a:t>              ↓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        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[ AlICjA ]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91e8c"/>
                </a:solidFill>
                <a:latin typeface="Calibri"/>
              </a:rPr>
              <a:t>        ↙    ↓    ↘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599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[Qdrant]  [PG]  [TAURON Blockchain]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Strategic Value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WSE Best Practices compliance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Investment rating evidence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Shareholder confidence for dividend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bec8dc"/>
                </a:solidFill>
                <a:latin typeface="Calibri"/>
              </a:rPr>
              <a:t>Preemptive: "we checked, here's proof"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731520" y="365760"/>
            <a:ext cx="10972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7. HOW IT WORKS IN PRACTICE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1371600"/>
            <a:ext cx="3474360" cy="36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e91e8c"/>
                </a:solidFill>
                <a:latin typeface="Calibri"/>
              </a:rPr>
              <a:t>📜  </a:t>
            </a:r>
            <a:r>
              <a:rPr b="1" lang="en-US" sz="2200" spc="-1" strike="noStrike">
                <a:solidFill>
                  <a:srgbClr val="e91e8c"/>
                </a:solidFill>
                <a:latin typeface="Calibri"/>
              </a:rPr>
              <a:t>AMENDMENT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bec8dc"/>
                </a:solidFill>
                <a:latin typeface="Calibri"/>
              </a:rPr>
              <a:t>Without AlICjA: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1. Read amendment (1–2 days)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2. Identify affected templates (3–5 days)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3. Manual OWU review (2–4 weeks)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4. Prepare recommendations (1 week)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1" lang="en-US" sz="1500" spc="-1" strike="noStrike">
                <a:solidFill>
                  <a:srgbClr val="ff5050"/>
                </a:solidFill>
                <a:latin typeface="Calibri"/>
              </a:rPr>
              <a:t>Total: 4–6 weeks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64ff64"/>
                </a:solidFill>
                <a:latin typeface="Calibri"/>
              </a:rPr>
              <a:t>With AlICjA: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1. Upload amendment (5 min)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2. Batch analysis — all OWU (auto)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3. Report in 1–2 hours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4. Lawyer reviews (1 day)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64ff64"/>
                </a:solidFill>
                <a:latin typeface="Calibri"/>
              </a:rPr>
              <a:t>Total: 1–2 days  (20x faster)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4389120" y="1371600"/>
            <a:ext cx="3474360" cy="37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e91e8c"/>
                </a:solidFill>
                <a:latin typeface="Calibri"/>
              </a:rPr>
              <a:t>⚡  </a:t>
            </a:r>
            <a:r>
              <a:rPr b="1" lang="en-US" sz="2200" spc="-1" strike="noStrike">
                <a:solidFill>
                  <a:srgbClr val="e91e8c"/>
                </a:solidFill>
                <a:latin typeface="Calibri"/>
              </a:rPr>
              <a:t>NEW PRODUCT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600" spc="-1" strike="noStrike">
                <a:solidFill>
                  <a:srgbClr val="bec8dc"/>
                </a:solidFill>
                <a:latin typeface="Calibri"/>
              </a:rPr>
              <a:t>Dynamic tariff contract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1. Lawyer drafts template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2. Upload to AlICjA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3. Compliance analysis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64ff64"/>
                </a:solidFill>
                <a:latin typeface="Calibri"/>
              </a:rPr>
              <a:t>   </a:t>
            </a:r>
            <a:r>
              <a:rPr b="1" lang="en-US" sz="1600" spc="-1" strike="noStrike">
                <a:solidFill>
                  <a:srgbClr val="64ff64"/>
                </a:solidFill>
                <a:latin typeface="Calibri"/>
              </a:rPr>
              <a:t>in 10 minutes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4. AlICjA detects: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ff5050"/>
                </a:solidFill>
                <a:latin typeface="Calibri"/>
              </a:rPr>
              <a:t>   </a:t>
            </a:r>
            <a:r>
              <a:rPr b="1" lang="en-US" sz="1400" spc="-1" strike="noStrike">
                <a:solidFill>
                  <a:srgbClr val="ff5050"/>
                </a:solidFill>
                <a:latin typeface="Calibri"/>
              </a:rPr>
              <a:t>Missing price risk info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bec8dc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bec8dc"/>
                </a:solidFill>
                <a:latin typeface="Calibri"/>
              </a:rPr>
              <a:t>(EU directive requirement)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5. Fix BEFORE deployment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64ff64"/>
                </a:solidFill>
                <a:latin typeface="Calibri"/>
              </a:rPr>
              <a:t>Compliance in the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4ff64"/>
                </a:solidFill>
                <a:latin typeface="Calibri"/>
              </a:rPr>
              <a:t>development cycle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8412480" y="1371600"/>
            <a:ext cx="3474360" cy="39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e91e8c"/>
                </a:solidFill>
                <a:latin typeface="Calibri"/>
              </a:rPr>
              <a:t>🏛️  </a:t>
            </a:r>
            <a:r>
              <a:rPr b="1" lang="en-US" sz="2200" spc="-1" strike="noStrike">
                <a:solidFill>
                  <a:srgbClr val="e91e8c"/>
                </a:solidFill>
                <a:latin typeface="Calibri"/>
              </a:rPr>
              <a:t>URE INSPECTION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bec8dc"/>
                </a:solidFill>
                <a:latin typeface="Calibri"/>
              </a:rPr>
              <a:t>URE requests compliance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600" spc="-1" strike="noStrike">
                <a:solidFill>
                  <a:srgbClr val="bec8dc"/>
                </a:solidFill>
                <a:latin typeface="Calibri"/>
              </a:rPr>
              <a:t>evidence for last 2 years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bec8dc"/>
                </a:solidFill>
                <a:latin typeface="Calibri"/>
              </a:rPr>
              <a:t>Without AlICjA: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f5050"/>
                </a:solidFill>
                <a:latin typeface="Calibri"/>
              </a:rPr>
              <a:t>"Sorry, we don't have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400" spc="-1" strike="noStrike">
                <a:solidFill>
                  <a:srgbClr val="ff505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ff5050"/>
                </a:solidFill>
                <a:latin typeface="Calibri"/>
              </a:rPr>
              <a:t>systematic documentation"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64ff64"/>
                </a:solidFill>
                <a:latin typeface="Calibri"/>
              </a:rPr>
              <a:t>With AlICjA: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1. Dashboard → all reports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2. Blockchain → immutable proof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3. MLflow → full parameters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"Here are our reports.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64ff64"/>
                </a:solidFill>
                <a:latin typeface="Calibri"/>
              </a:rPr>
              <a:t> </a:t>
            </a:r>
            <a:r>
              <a:rPr b="1" lang="en-US" sz="1500" spc="-1" strike="noStrike">
                <a:solidFill>
                  <a:srgbClr val="64ff64"/>
                </a:solidFill>
                <a:latin typeface="Calibri"/>
              </a:rPr>
              <a:t>Each one on blockchain."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731520" y="365760"/>
            <a:ext cx="10972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8. NEXT STEPS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7200" y="1371600"/>
            <a:ext cx="3474360" cy="28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2600" spc="-1" strike="noStrike">
                <a:solidFill>
                  <a:srgbClr val="e91e8c"/>
                </a:solidFill>
                <a:latin typeface="Calibri"/>
              </a:rPr>
              <a:t>🌱  </a:t>
            </a:r>
            <a:r>
              <a:rPr b="1" lang="en-US" sz="2600" spc="-1" strike="noStrike">
                <a:solidFill>
                  <a:srgbClr val="e91e8c"/>
                </a:solidFill>
                <a:latin typeface="Calibri"/>
              </a:rPr>
              <a:t>PILOT</a:t>
            </a:r>
            <a:endParaRPr b="0" lang="pl-PL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ffd700"/>
                </a:solidFill>
                <a:latin typeface="Calibri"/>
              </a:rPr>
              <a:t>Weeks 0–6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1. PoC on 10 OWU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Known non-compliance issues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2. Lawyer benchmark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AlICjA vs lawyer on same docs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3. Blockchain integration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Connect to TAURON blockchain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4. Go / No-Go decision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4389120" y="1371600"/>
            <a:ext cx="3474360" cy="30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2600" spc="-1" strike="noStrike">
                <a:solidFill>
                  <a:srgbClr val="e91e8c"/>
                </a:solidFill>
                <a:latin typeface="Calibri"/>
              </a:rPr>
              <a:t>🔧  </a:t>
            </a:r>
            <a:r>
              <a:rPr b="1" lang="en-US" sz="2600" spc="-1" strike="noStrike">
                <a:solidFill>
                  <a:srgbClr val="e91e8c"/>
                </a:solidFill>
                <a:latin typeface="Calibri"/>
              </a:rPr>
              <a:t>IMPLEMENTATION</a:t>
            </a:r>
            <a:endParaRPr b="0" lang="pl-PL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ffd700"/>
                </a:solidFill>
                <a:latin typeface="Calibri"/>
              </a:rPr>
              <a:t>Weeks 6–9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5. Production deployment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On-premise in TAURON infra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6. DMS integration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Document management systems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7. Training workshops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Compliance specialists &amp; lawyers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8. Batch analysis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Full OWU portfolio review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8412480" y="1371600"/>
            <a:ext cx="3474360" cy="30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2600" spc="-1" strike="noStrike">
                <a:solidFill>
                  <a:srgbClr val="e91e8c"/>
                </a:solidFill>
                <a:latin typeface="Calibri"/>
              </a:rPr>
              <a:t>🚀  </a:t>
            </a:r>
            <a:r>
              <a:rPr b="1" lang="en-US" sz="2600" spc="-1" strike="noStrike">
                <a:solidFill>
                  <a:srgbClr val="e91e8c"/>
                </a:solidFill>
                <a:latin typeface="Calibri"/>
              </a:rPr>
              <a:t>GROWTH</a:t>
            </a:r>
            <a:endParaRPr b="0" lang="pl-PL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ffd700"/>
                </a:solidFill>
                <a:latin typeface="Calibri"/>
              </a:rPr>
              <a:t>Weeks 9–15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9.  New contract types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Dynamic tariffs, PPA, EV, B2B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10. Legislative alerts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Auto-monitoring legal changes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11. Mój TAURON integration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Self-service compliance for BUs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12. Model fine-tuning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bec8dc"/>
                </a:solidFill>
                <a:latin typeface="Calibri"/>
              </a:rPr>
              <a:t>Tuned on TAURON data</a:t>
            </a:r>
            <a:endParaRPr b="0" lang="pl-PL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57200" y="457200"/>
            <a:ext cx="11246760" cy="10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SUMMARY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e91e8c"/>
                </a:solidFill>
                <a:latin typeface="Calibri"/>
              </a:rPr>
              <a:t>AlICjA = savings + security + speed + audit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1828800" y="2286000"/>
            <a:ext cx="850356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20x faster  —  compliance analysis (days → minutes)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9x ROI  —  in the first year (~PLN 3.6M benefits)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Risk mitigation  —  regulatory penalties up to 10% of turnover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Blockchain  —  TAURON blockchain = immutable audit trail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On-premise  —  100% GDPR compliant, cybersecure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Strategy-aligned  —  digitization + AI + ESG + customer focus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914400" y="5486400"/>
            <a:ext cx="10332360" cy="77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d700"/>
                </a:solidFill>
                <a:latin typeface="Calibri"/>
              </a:rPr>
              <a:t>Cost: ~PLN 400K (Y1) → ~PLN 250K (Y2+)  |  Benefit: ~PLN 3.6M/year</a:t>
            </a: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e91e8c"/>
                </a:solidFill>
                <a:latin typeface="Calibri"/>
              </a:rPr>
              <a:t>"A single URE penalty costs more than 10 years of AlICjA"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57200" y="731520"/>
            <a:ext cx="11246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THE TEAM</a:t>
            </a:r>
            <a:endParaRPr b="0" lang="pl-PL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914400" y="1828800"/>
            <a:ext cx="30171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🏗️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914400" y="2926080"/>
            <a:ext cx="3017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Dariusz Nowak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914400" y="3566160"/>
            <a:ext cx="30171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e91e8c"/>
                </a:solidFill>
                <a:latin typeface="Calibri"/>
              </a:rPr>
              <a:t>Architect &amp; Business Development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914400" y="4206240"/>
            <a:ext cx="3017160" cy="10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System architecture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Business strategy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Compliance analysis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TAURON strategy alignment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4572000" y="1828800"/>
            <a:ext cx="30171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⚙️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4572000" y="2926080"/>
            <a:ext cx="3017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Blazej Krzakala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4572000" y="3566160"/>
            <a:ext cx="3017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e91e8c"/>
                </a:solidFill>
                <a:latin typeface="Calibri"/>
              </a:rPr>
              <a:t>DevOps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4572000" y="4206240"/>
            <a:ext cx="3017160" cy="10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Infrastructure &amp; deployment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Docker &amp; orchestration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Hyperledger Fabric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CI/CD pipeline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8229600" y="1828800"/>
            <a:ext cx="30171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🤖</a:t>
            </a:r>
            <a:endParaRPr b="0" lang="pl-PL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8229600" y="2926080"/>
            <a:ext cx="3017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Klaudyna (Claude)</a:t>
            </a:r>
            <a:endParaRPr b="0" lang="pl-PL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8229600" y="3566160"/>
            <a:ext cx="3017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e91e8c"/>
                </a:solidFill>
                <a:latin typeface="Calibri"/>
              </a:rPr>
              <a:t>AI Assistant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3"/>
          <p:cNvSpPr/>
          <p:nvPr/>
        </p:nvSpPr>
        <p:spPr>
          <a:xfrm>
            <a:off x="8229600" y="4206240"/>
            <a:ext cx="3017160" cy="10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Coding &amp; RAG pipeline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Documentation generation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Strategy analysis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bec8dc"/>
                </a:solidFill>
                <a:latin typeface="Calibri"/>
              </a:rPr>
              <a:t>Prompt engineering</a:t>
            </a:r>
            <a:endParaRPr b="0" lang="pl-PL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14"/>
          <p:cNvSpPr/>
          <p:nvPr/>
        </p:nvSpPr>
        <p:spPr>
          <a:xfrm>
            <a:off x="457200" y="5760720"/>
            <a:ext cx="11246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e91e8c"/>
                </a:solidFill>
                <a:latin typeface="Calibri"/>
              </a:rPr>
              <a:t>ETHSilesia Hackathon 2026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bec8dc"/>
                </a:solidFill>
                <a:latin typeface="Calibri"/>
              </a:rPr>
              <a:t>AlICjA "Aunt ALA" — AI Context Analisator</a:t>
            </a:r>
            <a:endParaRPr b="0" lang="pl-PL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2026-04-18T16:41:02Z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